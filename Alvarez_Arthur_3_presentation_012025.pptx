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dal.fr/sante/nutrition/equilibre-alimentaire-adulte/recommandations-nutritionnelles-adulte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Arthur Alvarez</a:t>
            </a:r>
            <a:endParaRPr sz="2800" dirty="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Data </a:t>
            </a:r>
            <a:r>
              <a:rPr lang="fr-FR" sz="2800" dirty="0" err="1"/>
              <a:t>Analyst</a:t>
            </a:r>
            <a:endParaRPr dirty="0"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/>
              <a:t>Étude sur l’alimentation dans le monde</a:t>
            </a:r>
            <a:endParaRPr/>
          </a:p>
        </p:txBody>
      </p:sp>
      <p:pic>
        <p:nvPicPr>
          <p:cNvPr id="1026" name="Picture 2" descr="Les 5 Pays avec la meilleure alimentation saine">
            <a:extLst>
              <a:ext uri="{FF2B5EF4-FFF2-40B4-BE49-F238E27FC236}">
                <a16:creationId xmlns:a16="http://schemas.microsoft.com/office/drawing/2014/main" id="{CDCCA66B-96FB-D961-DBCD-ED2CD2012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448" y="3711920"/>
            <a:ext cx="6563552" cy="315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Contexte et spécification des données</a:t>
            </a:r>
            <a:endParaRPr sz="3200" dirty="0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Objectif : aider à construire un monde libéré de la faim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Étude de grande ampleur sur le thème de l’alimentation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Focus sur la sous nutrition dans le monde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ym typeface="Wingdings" panose="05000000000000000000" pitchFamily="2" charset="2"/>
              </a:rPr>
              <a:t>Données : 4 fichiers CSV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Disponibilité alimentaire pour l’année 2017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Insécurité alimentaire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Population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Aide alimentaire</a:t>
            </a: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ym typeface="Wingdings" panose="05000000000000000000" pitchFamily="2" charset="2"/>
              </a:rPr>
              <a:t>Source: https://www.fao.org/faostat/fr/#data</a:t>
            </a:r>
            <a:endParaRPr dirty="0"/>
          </a:p>
        </p:txBody>
      </p:sp>
      <p:pic>
        <p:nvPicPr>
          <p:cNvPr id="2050" name="Picture 2" descr="Logo de la FAO">
            <a:extLst>
              <a:ext uri="{FF2B5EF4-FFF2-40B4-BE49-F238E27FC236}">
                <a16:creationId xmlns:a16="http://schemas.microsoft.com/office/drawing/2014/main" id="{BE566B59-D918-762D-D55B-30BD56158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953" y="2222287"/>
            <a:ext cx="3937391" cy="159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Méthodologie de l’analyse</a:t>
            </a:r>
            <a:endParaRPr sz="3200"/>
          </a:p>
        </p:txBody>
      </p:sp>
      <p:sp>
        <p:nvSpPr>
          <p:cNvPr id="138" name="Google Shape;138;p3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Le RGPD ne s’applique pas car il n’y a pas de données personnelles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r>
              <a:rPr lang="fr-FR" dirty="0"/>
              <a:t>Données anonymisées, agrégées et publiques</a:t>
            </a: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Méthode pour faire l’analyse: 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Analyse exploratoire des fichiers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Analyses spécifiques pour mettre en valeur certains sujets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sym typeface="Wingdings" panose="05000000000000000000" pitchFamily="2" charset="2"/>
              </a:rPr>
              <a:t>Outils: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Python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Internet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1) Proportion de personnes en état de sous-nutrition en 2017</a:t>
            </a:r>
            <a:endParaRPr sz="3200"/>
          </a:p>
        </p:txBody>
      </p:sp>
      <p:sp>
        <p:nvSpPr>
          <p:cNvPr id="146" name="Google Shape;146;p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Le nombre de personnes en état de sous nutrition : 535 700 000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Divisé par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Le nombre de personnes total : 7 543 798 779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Nous donne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Le pourcentage de personnes en sous nutrition : 7,101%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</p:txBody>
      </p:sp>
      <p:sp>
        <p:nvSpPr>
          <p:cNvPr id="147" name="Google Shape;147;p4"/>
          <p:cNvSpPr/>
          <p:nvPr/>
        </p:nvSpPr>
        <p:spPr>
          <a:xfrm>
            <a:off x="8216273" y="2619498"/>
            <a:ext cx="3432024" cy="25824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Note: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Nations Unies ont fixé à 2100 calories par jour et par adulte le seuil en dessous duquel un individu est considéré comme sous-alimenté.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2) Nombre théorique de personnes qui pourraient être nourries en 2017</a:t>
            </a:r>
            <a:endParaRPr sz="3200"/>
          </a:p>
        </p:txBody>
      </p:sp>
      <p:sp>
        <p:nvSpPr>
          <p:cNvPr id="153" name="Google Shape;153;p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Pour un homme adulte, l’apport conseillé en énergie est,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en moyenne, de 2 400 à 2 600 calories par jour, selon l’activité.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Pour une femme adulte, il est de 1 800 à 2 200 calories.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Source: </a:t>
            </a:r>
            <a:r>
              <a:rPr lang="fr-FR" dirty="0">
                <a:hlinkClick r:id="rId3"/>
              </a:rPr>
              <a:t>https://www.vidal.fr/sante/nutrition/equilibre-alimentaire-adulte/recommandations-nutritionnelles-adulte.html</a:t>
            </a: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Moyenne de ces chiffres : 2250 calories par jour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Nombre de personnes qui pourraient être nourries :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Somme de la disponibilité / 2250 = </a:t>
            </a:r>
            <a:r>
              <a:rPr lang="fr-FR" b="1" u="sng" dirty="0"/>
              <a:t>9 297 326 501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b="1" u="sng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C’est plus de 100% de la population !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</p:txBody>
      </p:sp>
      <p:pic>
        <p:nvPicPr>
          <p:cNvPr id="3074" name="Picture 2" descr="10 idées reçues sur les calories">
            <a:extLst>
              <a:ext uri="{FF2B5EF4-FFF2-40B4-BE49-F238E27FC236}">
                <a16:creationId xmlns:a16="http://schemas.microsoft.com/office/drawing/2014/main" id="{34AD554E-E1D9-3623-5883-C7EA54978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750" y="3542857"/>
            <a:ext cx="4159596" cy="3233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3) Nombre théorique de personnes qui pourraient être nourries uniquement avec les végétaux en 2017</a:t>
            </a:r>
            <a:endParaRPr/>
          </a:p>
        </p:txBody>
      </p:sp>
      <p:sp>
        <p:nvSpPr>
          <p:cNvPr id="160" name="Google Shape;160;p6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Somme de la disponibilité pour les végétaux / 2250 = </a:t>
            </a:r>
            <a:r>
              <a:rPr lang="fr-FR" b="1" u="sng" dirty="0"/>
              <a:t>7 671 450 761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b="1" u="sng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C’est aussi 100% de la population !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4098" name="Picture 2" descr="9 Ways I Trick My Kids into Eating Vegetables and They Don't Even Know">
            <a:extLst>
              <a:ext uri="{FF2B5EF4-FFF2-40B4-BE49-F238E27FC236}">
                <a16:creationId xmlns:a16="http://schemas.microsoft.com/office/drawing/2014/main" id="{4DE92450-3ADC-C3D8-DB42-3CAD327AF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420" y="3911097"/>
            <a:ext cx="5118880" cy="2946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4) Répartition de la disponibilité intérieure</a:t>
            </a:r>
            <a:endParaRPr/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dirty="0"/>
              <a:t>Part de chaque catégorie de la disponibilité intérieure ( production + importations – exportations + variation de stock )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dirty="0"/>
              <a:t>Nourriture + Pertes + Aliments pour animaux = 67%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16B3A2-913C-42CD-DB49-4CF3F988A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112" y="3261690"/>
            <a:ext cx="5047776" cy="35963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5) Part de l’utilisation des principales céréales entre l’alimentation humaine et animale</a:t>
            </a:r>
            <a:endParaRPr/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Les céréales étudiées : Blé, Riz (Eq Blanchi), Orge, Maïs, Seigle, Avoine, Millet, Sorgho, Autres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B39BB-B0EE-60E7-3B62-B6D3259AE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809" y="2719389"/>
            <a:ext cx="4192380" cy="40480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</a:rPr>
              <a:t>2017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435860-C0F4-4178-FDD3-E5E0849CF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657" y="1886552"/>
            <a:ext cx="4953204" cy="4971448"/>
          </a:xfrm>
          <a:prstGeom prst="rect">
            <a:avLst/>
          </a:prstGeom>
        </p:spPr>
      </p:pic>
      <p:sp>
        <p:nvSpPr>
          <p:cNvPr id="4" name="Google Shape;147;p4">
            <a:extLst>
              <a:ext uri="{FF2B5EF4-FFF2-40B4-BE49-F238E27FC236}">
                <a16:creationId xmlns:a16="http://schemas.microsoft.com/office/drawing/2014/main" id="{999F0172-C2D8-E6B0-344B-19E884A2D050}"/>
              </a:ext>
            </a:extLst>
          </p:cNvPr>
          <p:cNvSpPr/>
          <p:nvPr/>
        </p:nvSpPr>
        <p:spPr>
          <a:xfrm>
            <a:off x="8216273" y="2619498"/>
            <a:ext cx="3432024" cy="25824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Note: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Corée du Nord veut dire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République populaire démocratique de Corée, mais comme ce nom est long il a été raccourci pour le graphique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7) Liste des 10 pays qui ont le plus bénéficié de l’aide alimentaire entre 2013 et 2016</a:t>
            </a:r>
            <a:endParaRPr/>
          </a:p>
        </p:txBody>
      </p:sp>
      <p:sp>
        <p:nvSpPr>
          <p:cNvPr id="189" name="Google Shape;189;p1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18156D-2416-F681-1BA7-76ECF3274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12" y="1888306"/>
            <a:ext cx="5509788" cy="4978487"/>
          </a:xfrm>
          <a:prstGeom prst="rect">
            <a:avLst/>
          </a:prstGeom>
        </p:spPr>
      </p:pic>
      <p:sp>
        <p:nvSpPr>
          <p:cNvPr id="4" name="Google Shape;147;p4">
            <a:extLst>
              <a:ext uri="{FF2B5EF4-FFF2-40B4-BE49-F238E27FC236}">
                <a16:creationId xmlns:a16="http://schemas.microsoft.com/office/drawing/2014/main" id="{F324E0CB-3EF5-3AFF-074F-243DB4CADC91}"/>
              </a:ext>
            </a:extLst>
          </p:cNvPr>
          <p:cNvSpPr/>
          <p:nvPr/>
        </p:nvSpPr>
        <p:spPr>
          <a:xfrm>
            <a:off x="8216273" y="2619498"/>
            <a:ext cx="3432024" cy="25824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Note: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Noms raccourcis pour le graphique: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République arabe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syrienne : Syrie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République démocratique du Congo : RD Congo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8) Évolution de l’aide alimentaire pour les 5 pays qui en ont le plus bénéficié entre 2013 et 2016</a:t>
            </a:r>
            <a:endParaRPr/>
          </a:p>
        </p:txBody>
      </p:sp>
      <p:sp>
        <p:nvSpPr>
          <p:cNvPr id="196" name="Google Shape;196;g2233f607d43_0_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B9E74-5C6E-BEF6-F479-785AA1EAF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83" y="1892174"/>
            <a:ext cx="5164821" cy="4965826"/>
          </a:xfrm>
          <a:prstGeom prst="rect">
            <a:avLst/>
          </a:prstGeom>
        </p:spPr>
      </p:pic>
      <p:sp>
        <p:nvSpPr>
          <p:cNvPr id="4" name="Google Shape;147;p4">
            <a:extLst>
              <a:ext uri="{FF2B5EF4-FFF2-40B4-BE49-F238E27FC236}">
                <a16:creationId xmlns:a16="http://schemas.microsoft.com/office/drawing/2014/main" id="{2E576C80-E142-B69B-5CEE-444333B74029}"/>
              </a:ext>
            </a:extLst>
          </p:cNvPr>
          <p:cNvSpPr/>
          <p:nvPr/>
        </p:nvSpPr>
        <p:spPr>
          <a:xfrm>
            <a:off x="8216273" y="2619498"/>
            <a:ext cx="3432024" cy="25824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Note: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Nom raccourci pour le graphique: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République arabe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syrienne : Syrie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disponibilité alimentaire par habitant</a:t>
            </a:r>
            <a:endParaRPr sz="3200"/>
          </a:p>
        </p:txBody>
      </p:sp>
      <p:sp>
        <p:nvSpPr>
          <p:cNvPr id="203" name="Google Shape;203;p11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4" name="Google Shape;147;p4">
            <a:extLst>
              <a:ext uri="{FF2B5EF4-FFF2-40B4-BE49-F238E27FC236}">
                <a16:creationId xmlns:a16="http://schemas.microsoft.com/office/drawing/2014/main" id="{59C89936-D3D9-2E57-DAE2-5505DD7D4D43}"/>
              </a:ext>
            </a:extLst>
          </p:cNvPr>
          <p:cNvSpPr/>
          <p:nvPr/>
        </p:nvSpPr>
        <p:spPr>
          <a:xfrm>
            <a:off x="8216273" y="2619498"/>
            <a:ext cx="3432024" cy="25824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Note: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Noms raccourcis pour le graphique: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République populaire démocratique de Corée : Corée du Nord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dirty="0">
                <a:latin typeface="Century Gothic"/>
                <a:sym typeface="Century Gothic"/>
              </a:rPr>
              <a:t>République centrafricaine : RCA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17748C-C931-2DE0-5DCB-61979B46D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36" y="1886552"/>
            <a:ext cx="5068581" cy="49714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faible disponibilité alimentaire par habitant</a:t>
            </a:r>
            <a:endParaRPr/>
          </a:p>
        </p:txBody>
      </p:sp>
      <p:sp>
        <p:nvSpPr>
          <p:cNvPr id="210" name="Google Shape;210;p12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4A1D96-B05F-6ADE-FEF0-6A117770C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98" y="1876425"/>
            <a:ext cx="5514975" cy="49815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10) Étude sur le manioc en Thaïlande</a:t>
            </a:r>
            <a:endParaRPr/>
          </a:p>
        </p:txBody>
      </p:sp>
      <p:sp>
        <p:nvSpPr>
          <p:cNvPr id="217" name="Google Shape;217;p13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En 2017, 8,96% de personnes en sous-nutrition en Thaïlande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Production de manioc : 30 228 000 kg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Exportation :  25 214 000 kg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Disponibilité intérieure : 6 264 000 kg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Proportion exportée : exportation / disponibilité intérieure = </a:t>
            </a:r>
            <a:r>
              <a:rPr lang="fr-FR" b="1" u="sng" dirty="0"/>
              <a:t>4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4 fois plus de manioc exporté que de manioc disponible!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Explication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Quasiment toute la production de manioc est exportée car c’est une source de revenus fiable pour beaucoup d’agriculteurs thaïlandais.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6148" name="Picture 4" descr="Les 5 produits dont la Thaïlande est le 1er exportateur mondial">
            <a:extLst>
              <a:ext uri="{FF2B5EF4-FFF2-40B4-BE49-F238E27FC236}">
                <a16:creationId xmlns:a16="http://schemas.microsoft.com/office/drawing/2014/main" id="{C0B89B28-5BDE-AB4E-4148-09D9CF52D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361" y="4765155"/>
            <a:ext cx="3456585" cy="209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à"/>
            </a:pPr>
            <a:r>
              <a:rPr lang="fr-FR" sz="1800" b="0" i="0">
                <a:solidFill>
                  <a:srgbClr val="FFFFFF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Il y a assez de disponibilité pour nourrir 120% de la population mondiale, on peut donc trouver une solution pour la sous nutrition</a:t>
            </a:r>
            <a:endParaRPr lang="fr-FR" dirty="0"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Beaucoup de données disponibles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On peut identifier certains problèmes en les analysant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Pour le futur : on pourra suivre l’évolution de ces indicateurs pour tester et mesurer l’efficacité des solutions qu’on pourrait mettre en place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725</Words>
  <Application>Microsoft Office PowerPoint</Application>
  <PresentationFormat>Widescreen</PresentationFormat>
  <Paragraphs>114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Noto Sans Symbols</vt:lpstr>
      <vt:lpstr>Wingdings</vt:lpstr>
      <vt:lpstr>Entre guillemets</vt:lpstr>
      <vt:lpstr>Étude sur l’alimentation dans le monde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arthur Alvarez</cp:lastModifiedBy>
  <cp:revision>27</cp:revision>
  <dcterms:created xsi:type="dcterms:W3CDTF">2023-03-17T20:58:30Z</dcterms:created>
  <dcterms:modified xsi:type="dcterms:W3CDTF">2025-01-05T17:33:46Z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